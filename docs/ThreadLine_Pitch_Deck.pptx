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6F7FE"/>
            </a:gs>
            <a:gs pos="100000">
              <a:srgbClr val="E8EBFC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ccent Blob 1"/>
          <p:cNvSpPr/>
          <p:nvPr/>
        </p:nvSpPr>
        <p:spPr>
          <a:xfrm>
            <a:off x="9550000" y="-1250000"/>
            <a:ext cx="4200000" cy="4200000"/>
          </a:xfrm>
          <a:prstGeom prst="ellipse">
            <a:avLst/>
          </a:prstGeom>
          <a:solidFill>
            <a:srgbClr val="6B7BF7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ccent Blob 2"/>
          <p:cNvSpPr/>
          <p:nvPr/>
        </p:nvSpPr>
        <p:spPr>
          <a:xfrm>
            <a:off x="-1400000" y="4300000"/>
            <a:ext cx="3600000" cy="3600000"/>
          </a:xfrm>
          <a:prstGeom prst="ellipse">
            <a:avLst/>
          </a:prstGeom>
          <a:solidFill>
            <a:srgbClr val="6B7BF7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Accent Rule"/>
          <p:cNvSpPr/>
          <p:nvPr/>
        </p:nvSpPr>
        <p:spPr>
          <a:xfrm>
            <a:off x="5638800" y="4343400"/>
            <a:ext cx="914400" cy="45720"/>
          </a:xfrm>
          <a:prstGeom prst="roundRect">
            <a:avLst>
              <a:gd name="adj" fmla="val 50000"/>
            </a:avLst>
          </a:prstGeom>
          <a:solidFill>
            <a:srgbClr val="6B7B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758440" y="4640580"/>
            <a:ext cx="6675120" cy="865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endParaRPr lang="en-US" sz="2000">
              <a:solidFill>
                <a:srgbClr val="6B7280"/>
              </a:solidFill>
              <a:latin typeface="Segoe UI Semilight" pitchFamily="34" charset="0"/>
              <a:cs typeface="Segoe UI Semilight" pitchFamily="34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0" i="0">
                <a:solidFill>
                  <a:srgbClr val="6B7280"/>
                </a:solidFill>
                <a:latin typeface="Segoe UI Semilight" pitchFamily="34" charset="0"/>
                <a:cs typeface="Segoe UI Semilight" pitchFamily="34" charset="0"/>
              </a:rPr>
              <a:t>By: Crystal Xu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600" y="5867400"/>
            <a:ext cx="6400800" cy="261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sz="1100" b="0" i="0" dirty="0">
                <a:solidFill>
                  <a:srgbClr val="9AA0AE"/>
                </a:solidFill>
                <a:latin typeface="Segoe UI" pitchFamily="34" charset="0"/>
              </a:rPr>
              <a:t>Live Product Demo  ·  2026  ·  Personal Project</a:t>
            </a:r>
            <a:r>
              <a:rPr lang="en-US" sz="1100" b="0" dirty="0">
                <a:solidFill>
                  <a:srgbClr val="9AA0AE"/>
                </a:solidFill>
              </a:rPr>
              <a:t>  ·  Crystal Xu</a:t>
            </a:r>
            <a:endParaRPr lang="en-US" sz="1100" b="0" i="0" dirty="0">
              <a:solidFill>
                <a:srgbClr val="9AA0AE"/>
              </a:solidFill>
              <a:latin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943D4-4CF6-8A82-B6D5-A55C35D1B930}"/>
              </a:ext>
            </a:extLst>
          </p:cNvPr>
          <p:cNvSpPr txBox="1"/>
          <p:nvPr/>
        </p:nvSpPr>
        <p:spPr>
          <a:xfrm>
            <a:off x="2286000" y="3560743"/>
            <a:ext cx="76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dirty="0">
                <a:solidFill>
                  <a:srgbClr val="2F3545"/>
                </a:solidFill>
                <a:latin typeface="Segoe UI Semilight" pitchFamily="34" charset="0"/>
                <a:cs typeface="Segoe UI Semilight" pitchFamily="34" charset="0"/>
              </a:rPr>
              <a:t>Your Automatic Project Memory Assistant: From scattered updates to one clear timeline</a:t>
            </a:r>
          </a:p>
          <a:p>
            <a:endParaRPr lang="en-US" sz="2000" b="1" dirty="0">
              <a:latin typeface="Segoe UI Semilight" pitchFamily="34" charset="0"/>
              <a:cs typeface="Segoe UI Semilight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B8762C-097C-016D-B9F8-22289101C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165" y="1781467"/>
            <a:ext cx="6609750" cy="1418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6F7FE"/>
            </a:gs>
            <a:gs pos="100000">
              <a:srgbClr val="E8EBFC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ccent Blob 1"/>
          <p:cNvSpPr/>
          <p:nvPr/>
        </p:nvSpPr>
        <p:spPr>
          <a:xfrm>
            <a:off x="10100000" y="-1500000"/>
            <a:ext cx="3600000" cy="3600000"/>
          </a:xfrm>
          <a:prstGeom prst="ellipse">
            <a:avLst/>
          </a:prstGeom>
          <a:solidFill>
            <a:srgbClr val="6B7BF7">
              <a:alpha val="9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Accent Blob 2"/>
          <p:cNvSpPr/>
          <p:nvPr/>
        </p:nvSpPr>
        <p:spPr>
          <a:xfrm>
            <a:off x="-1600000" y="4900000"/>
            <a:ext cx="3000000" cy="3000000"/>
          </a:xfrm>
          <a:prstGeom prst="ellipse">
            <a:avLst/>
          </a:prstGeom>
          <a:solidFill>
            <a:srgbClr val="6B7BF7">
              <a:alpha val="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0080" y="548640"/>
            <a:ext cx="365760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i="0">
                <a:solidFill>
                  <a:srgbClr val="6B7BF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5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2F3545"/>
                </a:solidFill>
                <a:latin typeface="Calibri"/>
              </a:rPr>
              <a:t>Imagine After You Came Back from a Vacation/Break</a:t>
            </a:r>
            <a:endParaRPr lang="en-US" sz="3000" b="1" i="0" dirty="0">
              <a:solidFill>
                <a:srgbClr val="2F3545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35204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520440" cy="128016"/>
          </a:xfrm>
          <a:prstGeom prst="rect">
            <a:avLst/>
          </a:prstGeom>
          <a:solidFill>
            <a:srgbClr val="6B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2880360" cy="4024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i="0">
                <a:solidFill>
                  <a:srgbClr val="2F3545"/>
                </a:solidFill>
                <a:latin typeface="Calibri"/>
              </a:rPr>
              <a:t>Inbox Flooding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2880360" cy="936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b="0" i="0">
                <a:solidFill>
                  <a:srgbClr val="6B7280"/>
                </a:solidFill>
                <a:latin typeface="Calibri"/>
              </a:rPr>
              <a:t>Hundreds of unread emails and calendar invites waiting after one week 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2377440"/>
            <a:ext cx="35204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34256" y="2377440"/>
            <a:ext cx="3520440" cy="128016"/>
          </a:xfrm>
          <a:prstGeom prst="rect">
            <a:avLst/>
          </a:prstGeom>
          <a:solidFill>
            <a:srgbClr val="6B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2743200"/>
            <a:ext cx="2880360" cy="4024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i="0">
                <a:solidFill>
                  <a:srgbClr val="2F3545"/>
                </a:solidFill>
                <a:latin typeface="Calibri"/>
              </a:rPr>
              <a:t>Missing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3520440"/>
            <a:ext cx="2880360" cy="648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b="0" i="0">
                <a:solidFill>
                  <a:srgbClr val="6B7280"/>
                </a:solidFill>
                <a:latin typeface="Calibri"/>
              </a:rPr>
              <a:t>What happened, when, and what was decided?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2377440"/>
            <a:ext cx="35204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28432" y="2377440"/>
            <a:ext cx="3520440" cy="128016"/>
          </a:xfrm>
          <a:prstGeom prst="rect">
            <a:avLst/>
          </a:prstGeom>
          <a:solidFill>
            <a:srgbClr val="6B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2743200"/>
            <a:ext cx="2880360" cy="4024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i="0">
                <a:solidFill>
                  <a:srgbClr val="2F3545"/>
                </a:solidFill>
                <a:latin typeface="Calibri"/>
              </a:rPr>
              <a:t>Manual catch-up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3520440"/>
            <a:ext cx="2880360" cy="648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b="0" i="0">
                <a:solidFill>
                  <a:srgbClr val="6B7280"/>
                </a:solidFill>
                <a:latin typeface="Calibri"/>
              </a:rPr>
              <a:t>Scroll back from the oldest unread message to rebuild every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355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700" b="1" i="0">
                <a:solidFill>
                  <a:srgbClr val="2F3545"/>
                </a:solidFill>
                <a:latin typeface="Calibri"/>
              </a:rPr>
              <a:t>The result: hours — sometimes days — spent just getting back up to speed</a:t>
            </a:r>
            <a:endParaRPr lang="en-US" sz="1700" b="0" i="0">
              <a:solidFill>
                <a:srgbClr val="6B7280"/>
              </a:solidFill>
              <a:latin typeface="Calibri"/>
            </a:endParaRPr>
          </a:p>
        </p:txBody>
      </p:sp>
      <p:pic>
        <p:nvPicPr>
          <p:cNvPr id="51" name="Card Ico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495800"/>
            <a:ext cx="838200" cy="838200"/>
          </a:xfrm>
          <a:prstGeom prst="rect">
            <a:avLst/>
          </a:prstGeom>
        </p:spPr>
      </p:pic>
      <p:pic>
        <p:nvPicPr>
          <p:cNvPr id="52" name="Card Ic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376" y="4495800"/>
            <a:ext cx="1011936" cy="1011936"/>
          </a:xfrm>
          <a:prstGeom prst="rect">
            <a:avLst/>
          </a:prstGeom>
        </p:spPr>
      </p:pic>
      <p:pic>
        <p:nvPicPr>
          <p:cNvPr id="53" name="Card Ic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028" y="4543325"/>
            <a:ext cx="841248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6F7FE"/>
            </a:gs>
            <a:gs pos="100000">
              <a:srgbClr val="E8EBFC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ccent Blob 1"/>
          <p:cNvSpPr/>
          <p:nvPr/>
        </p:nvSpPr>
        <p:spPr>
          <a:xfrm>
            <a:off x="10100000" y="-1500000"/>
            <a:ext cx="3600000" cy="3600000"/>
          </a:xfrm>
          <a:prstGeom prst="ellipse">
            <a:avLst/>
          </a:prstGeom>
          <a:solidFill>
            <a:srgbClr val="6B7BF7">
              <a:alpha val="9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Accent Blob 2"/>
          <p:cNvSpPr/>
          <p:nvPr/>
        </p:nvSpPr>
        <p:spPr>
          <a:xfrm>
            <a:off x="-1600000" y="4900000"/>
            <a:ext cx="3000000" cy="3000000"/>
          </a:xfrm>
          <a:prstGeom prst="ellipse">
            <a:avLst/>
          </a:prstGeom>
          <a:solidFill>
            <a:srgbClr val="6B7BF7">
              <a:alpha val="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0080" y="548640"/>
            <a:ext cx="365760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i="0">
                <a:solidFill>
                  <a:srgbClr val="6B7BF7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42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i="0" dirty="0">
                <a:solidFill>
                  <a:srgbClr val="2F3545"/>
                </a:solidFill>
                <a:latin typeface="Calibri"/>
              </a:rPr>
              <a:t>An AI-Powered Project </a:t>
            </a:r>
            <a:r>
              <a:rPr lang="en-US" sz="3000" b="1" dirty="0">
                <a:solidFill>
                  <a:srgbClr val="2F3545"/>
                </a:solidFill>
                <a:latin typeface="Calibri"/>
              </a:rPr>
              <a:t>Memory Assistant Where Project Managers use it to:</a:t>
            </a:r>
            <a:endParaRPr lang="en-US" sz="3000" b="1" i="0" dirty="0">
              <a:solidFill>
                <a:srgbClr val="2F3545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0" y="214884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2148840"/>
            <a:ext cx="128016" cy="1051560"/>
          </a:xfrm>
          <a:prstGeom prst="rect">
            <a:avLst/>
          </a:prstGeom>
          <a:solidFill>
            <a:srgbClr val="6B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258568"/>
            <a:ext cx="4846320" cy="386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900" b="1" i="0">
                <a:solidFill>
                  <a:srgbClr val="6B7BF7"/>
                </a:solidFill>
                <a:latin typeface="Calibri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660904"/>
            <a:ext cx="4937760" cy="309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Gmail and Google Calendar, read-only access -- nothing else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38328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3383280"/>
            <a:ext cx="128016" cy="1051560"/>
          </a:xfrm>
          <a:prstGeom prst="rect">
            <a:avLst/>
          </a:prstGeom>
          <a:solidFill>
            <a:srgbClr val="6B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493008"/>
            <a:ext cx="4846320" cy="386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900" b="1" i="0">
                <a:solidFill>
                  <a:srgbClr val="6B7BF7"/>
                </a:solidFill>
                <a:latin typeface="Calibri"/>
              </a:rPr>
              <a:t>Organize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95344"/>
            <a:ext cx="4937760" cy="5355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AI groups messages and events into projects and extracts decisions and action items -- Nothing needed from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61772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4617720"/>
            <a:ext cx="128016" cy="1051560"/>
          </a:xfrm>
          <a:prstGeom prst="rect">
            <a:avLst/>
          </a:prstGeom>
          <a:solidFill>
            <a:srgbClr val="6B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727448"/>
            <a:ext cx="4846320" cy="386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900" b="1" i="0">
                <a:solidFill>
                  <a:srgbClr val="6B7BF7"/>
                </a:solidFill>
                <a:latin typeface="Calibri"/>
              </a:rPr>
              <a:t>Catch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29784"/>
            <a:ext cx="4937760" cy="5355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One digest of what changed, a live action board, everything editable inline</a:t>
            </a:r>
          </a:p>
        </p:txBody>
      </p:sp>
      <p:pic>
        <p:nvPicPr>
          <p:cNvPr id="60" name="Solution Vis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1103"/>
            <a:ext cx="4572000" cy="2881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4F78-2325-86D5-9539-48585AC4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594360"/>
          </a:xfrm>
        </p:spPr>
        <p:txBody>
          <a:bodyPr/>
          <a:lstStyle/>
          <a:p>
            <a:pPr algn="l">
              <a:defRPr sz="3100" b="1">
                <a:solidFill>
                  <a:srgbClr val="111827"/>
                </a:solidFill>
                <a:latin typeface="Aptos Display"/>
              </a:defRPr>
            </a:pPr>
            <a:r>
              <a:t>Market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8626"/>
            <a:ext cx="10789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5C677A"/>
                </a:solidFill>
                <a:latin typeface="Aptos"/>
              </a:defRPr>
            </a:pPr>
            <a:r>
              <a:rPr dirty="0"/>
              <a:t>People already want AI to help them catch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572768"/>
            <a:ext cx="9555480" cy="2148840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755648"/>
            <a:ext cx="8915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4361EE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441448"/>
            <a:ext cx="80924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ptos"/>
              </a:defRPr>
            </a:pPr>
            <a:r>
              <a:t>of early Microsoft 365 Copilot users said Copilot made it easier to</a:t>
            </a:r>
            <a:br/>
            <a:r>
              <a:t>catch up on what they missed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246120"/>
            <a:ext cx="7360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5C677A"/>
                </a:solidFill>
                <a:latin typeface="Aptos"/>
              </a:defRPr>
            </a:pPr>
            <a:r>
              <a:rPr dirty="0"/>
              <a:t>Survey of 297 Microsoft 365 Copilot Early Access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05072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4361EE"/>
                </a:solidFill>
                <a:latin typeface="Aptos"/>
              </a:defRPr>
            </a:pPr>
            <a:r>
              <a:t>THREADLINE FOCUSES THAT NEED ON PROJECT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498848"/>
            <a:ext cx="2697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90472" y="4608576"/>
            <a:ext cx="25511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1">
                <a:solidFill>
                  <a:srgbClr val="111827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498848"/>
            <a:ext cx="2697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4679440"/>
            <a:ext cx="2551176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1">
                <a:solidFill>
                  <a:srgbClr val="111827"/>
                </a:solidFill>
                <a:latin typeface="Aptos"/>
              </a:defRPr>
            </a:pPr>
            <a:r>
              <a:rPr lang="en-US" dirty="0"/>
              <a:t>When was it changed?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635240" y="4498848"/>
            <a:ext cx="2697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2" y="4608576"/>
            <a:ext cx="25511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1">
                <a:solidFill>
                  <a:srgbClr val="111827"/>
                </a:solidFill>
                <a:latin typeface="Aptos"/>
              </a:defRPr>
            </a:pPr>
            <a:r>
              <a:t>What needs my attention?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51383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rPr dirty="0"/>
              <a:t>Source: Microsoft Work Trend Index, 2023 · 297 Copilot Early Access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43016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4361EE"/>
                </a:solidFill>
                <a:latin typeface="Aptos"/>
              </a:defRPr>
            </a:pPr>
            <a:r>
              <a:t>Verify: microsoft.com/worklab/work-trend-index/copilots-earliest-users-teach-us-about-generative-ai-at-work</a:t>
            </a:r>
          </a:p>
        </p:txBody>
      </p:sp>
    </p:spTree>
    <p:extLst>
      <p:ext uri="{BB962C8B-B14F-4D97-AF65-F5344CB8AC3E}">
        <p14:creationId xmlns:p14="http://schemas.microsoft.com/office/powerpoint/2010/main" val="317563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6F7FE"/>
            </a:gs>
            <a:gs pos="100000">
              <a:srgbClr val="E8EBFC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ccent Blob 1"/>
          <p:cNvSpPr/>
          <p:nvPr/>
        </p:nvSpPr>
        <p:spPr>
          <a:xfrm>
            <a:off x="10100000" y="-1500000"/>
            <a:ext cx="3600000" cy="3600000"/>
          </a:xfrm>
          <a:prstGeom prst="ellipse">
            <a:avLst/>
          </a:prstGeom>
          <a:solidFill>
            <a:srgbClr val="6B7BF7">
              <a:alpha val="9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Accent Blob 2"/>
          <p:cNvSpPr/>
          <p:nvPr/>
        </p:nvSpPr>
        <p:spPr>
          <a:xfrm>
            <a:off x="-1600000" y="4900000"/>
            <a:ext cx="3000000" cy="3000000"/>
          </a:xfrm>
          <a:prstGeom prst="ellipse">
            <a:avLst/>
          </a:prstGeom>
          <a:solidFill>
            <a:srgbClr val="6B7BF7">
              <a:alpha val="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ch Card"/>
          <p:cNvSpPr/>
          <p:nvPr/>
        </p:nvSpPr>
        <p:spPr>
          <a:xfrm>
            <a:off x="8783031" y="2153609"/>
            <a:ext cx="2633937" cy="3029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0080" y="548640"/>
            <a:ext cx="365760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>
                <a:solidFill>
                  <a:srgbClr val="6B7BF7"/>
                </a:solidFill>
                <a:latin typeface="Calibri"/>
              </a:rPr>
              <a:t>Real Pipeline, Real Data</a:t>
            </a:r>
            <a:endParaRPr lang="en-US" sz="1300" b="1" i="0">
              <a:solidFill>
                <a:srgbClr val="6B7BF7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55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i="0">
                <a:solidFill>
                  <a:srgbClr val="2F3545"/>
                </a:solidFill>
                <a:latin typeface="Calibri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5431" y="2474528"/>
            <a:ext cx="2189136" cy="271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  <a:latin typeface="Calibri"/>
              </a:rPr>
              <a:t>Technologies Used: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  <a:latin typeface="Calibri"/>
              </a:rPr>
              <a:t>—  </a:t>
            </a:r>
            <a:r>
              <a:rPr lang="en-US" sz="1300" b="1" dirty="0" err="1">
                <a:solidFill>
                  <a:srgbClr val="2F3545"/>
                </a:solidFill>
                <a:latin typeface="Calibri"/>
              </a:rPr>
              <a:t>Supabase</a:t>
            </a:r>
            <a:r>
              <a:rPr lang="en-US" sz="1300" b="0" dirty="0">
                <a:solidFill>
                  <a:srgbClr val="6B7280"/>
                </a:solidFill>
                <a:latin typeface="Calibri"/>
              </a:rPr>
              <a:t> data tables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  <a:latin typeface="Calibri"/>
              </a:rPr>
              <a:t>—  </a:t>
            </a:r>
            <a:r>
              <a:rPr lang="en-US" sz="1300" b="1" dirty="0">
                <a:latin typeface="Calibri"/>
              </a:rPr>
              <a:t>Anthropic APIs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  <a:r>
              <a:rPr lang="en-US" sz="13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Sonnet 5, Haiku 4.5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</a:rPr>
              <a:t>—  </a:t>
            </a:r>
            <a:r>
              <a:rPr lang="en-US" sz="1300" b="1" dirty="0">
                <a:solidFill>
                  <a:srgbClr val="2F3545"/>
                </a:solidFill>
              </a:rPr>
              <a:t>Anthropic Claude AI</a:t>
            </a:r>
            <a:endParaRPr lang="en-US" sz="1300" b="0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  <a:latin typeface="Calibri"/>
              </a:rPr>
              <a:t>—  </a:t>
            </a:r>
            <a:r>
              <a:rPr lang="en-US" sz="1300" b="1" dirty="0">
                <a:solidFill>
                  <a:srgbClr val="2F3545"/>
                </a:solidFill>
                <a:latin typeface="Calibri"/>
              </a:rPr>
              <a:t>Google Cloud Platform </a:t>
            </a:r>
            <a:r>
              <a:rPr lang="en-US" sz="1300" b="0" dirty="0">
                <a:solidFill>
                  <a:srgbClr val="6B7280"/>
                </a:solidFill>
                <a:latin typeface="Calibri"/>
              </a:rPr>
              <a:t>Gmail + Calendar </a:t>
            </a:r>
            <a:r>
              <a:rPr lang="en-US" sz="1300" dirty="0">
                <a:solidFill>
                  <a:srgbClr val="6B7280"/>
                </a:solidFill>
                <a:latin typeface="Calibri"/>
              </a:rPr>
              <a:t>API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</a:rPr>
              <a:t>— </a:t>
            </a:r>
            <a:r>
              <a:rPr lang="en-US" sz="1300" b="1" dirty="0">
                <a:solidFill>
                  <a:srgbClr val="2F3545"/>
                </a:solidFill>
                <a:latin typeface="Calibri"/>
              </a:rPr>
              <a:t>Python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6B7BF7"/>
                </a:solidFill>
              </a:rPr>
              <a:t>— </a:t>
            </a:r>
            <a:r>
              <a:rPr lang="en-US" sz="1300" b="1" dirty="0">
                <a:solidFill>
                  <a:srgbClr val="2F3545"/>
                </a:solidFill>
                <a:latin typeface="Calibri"/>
              </a:rPr>
              <a:t>HTML, CSS, JavaScript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AEA1E1-B432-0216-956D-936C15F87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4333"/>
            <a:ext cx="7772400" cy="4367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6F7FE"/>
            </a:gs>
            <a:gs pos="100000">
              <a:srgbClr val="E8EBFC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ccent Blob 1"/>
          <p:cNvSpPr/>
          <p:nvPr/>
        </p:nvSpPr>
        <p:spPr>
          <a:xfrm>
            <a:off x="9550000" y="-1250000"/>
            <a:ext cx="4200000" cy="4200000"/>
          </a:xfrm>
          <a:prstGeom prst="ellipse">
            <a:avLst/>
          </a:prstGeom>
          <a:solidFill>
            <a:srgbClr val="6B7BF7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ccent Blob 2"/>
          <p:cNvSpPr/>
          <p:nvPr/>
        </p:nvSpPr>
        <p:spPr>
          <a:xfrm>
            <a:off x="-1400000" y="4300000"/>
            <a:ext cx="3600000" cy="3600000"/>
          </a:xfrm>
          <a:prstGeom prst="ellipse">
            <a:avLst/>
          </a:prstGeom>
          <a:solidFill>
            <a:srgbClr val="6B7BF7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Accent Rule"/>
          <p:cNvSpPr/>
          <p:nvPr/>
        </p:nvSpPr>
        <p:spPr>
          <a:xfrm>
            <a:off x="5638800" y="4480560"/>
            <a:ext cx="914400" cy="45720"/>
          </a:xfrm>
          <a:prstGeom prst="roundRect">
            <a:avLst>
              <a:gd name="adj" fmla="val 50000"/>
            </a:avLst>
          </a:prstGeom>
          <a:solidFill>
            <a:srgbClr val="6B7B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758440" y="4640580"/>
            <a:ext cx="6675120" cy="865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>
                <a:solidFill>
                  <a:srgbClr val="6B7BF7"/>
                </a:solidFill>
                <a:latin typeface="Segoe UI Semilight" pitchFamily="34" charset="0"/>
                <a:cs typeface="Segoe UI Semilight" pitchFamily="34" charset="0"/>
              </a:rPr>
              <a:t>Any questions?</a:t>
            </a:r>
            <a:endParaRPr lang="en-US" sz="2400" b="0" i="0">
              <a:solidFill>
                <a:srgbClr val="6B7BF7"/>
              </a:solidFill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95600" y="5867400"/>
            <a:ext cx="6400800" cy="261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sz="1100" b="0" i="0" dirty="0">
                <a:solidFill>
                  <a:srgbClr val="9AA0AE"/>
                </a:solidFill>
                <a:latin typeface="Segoe UI" pitchFamily="34" charset="0"/>
              </a:rPr>
              <a:t>Crystal Xu  ·  </a:t>
            </a:r>
            <a:r>
              <a:rPr lang="en-US" sz="1100" b="0" i="0" dirty="0" err="1">
                <a:solidFill>
                  <a:srgbClr val="9AA0AE"/>
                </a:solidFill>
                <a:latin typeface="Segoe UI" pitchFamily="34" charset="0"/>
              </a:rPr>
              <a:t>ThreadLinePMA</a:t>
            </a:r>
            <a:r>
              <a:rPr lang="en-US" sz="1100" b="0" i="0" dirty="0">
                <a:solidFill>
                  <a:srgbClr val="9AA0AE"/>
                </a:solidFill>
                <a:latin typeface="Segoe UI" pitchFamily="34" charset="0"/>
              </a:rPr>
              <a:t>  · 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A8E3E-1D6F-4DAB-800F-5A38B243D20D}"/>
              </a:ext>
            </a:extLst>
          </p:cNvPr>
          <p:cNvSpPr txBox="1"/>
          <p:nvPr/>
        </p:nvSpPr>
        <p:spPr>
          <a:xfrm>
            <a:off x="2286000" y="2217420"/>
            <a:ext cx="76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0" i="0" dirty="0">
                <a:solidFill>
                  <a:srgbClr val="2F3545"/>
                </a:solidFill>
                <a:latin typeface="Segoe UI Semilight" pitchFamily="34" charset="0"/>
                <a:cs typeface="Segoe UI Semilight" pitchFamily="34" charset="0"/>
              </a:rPr>
              <a:t>Thank you for listening</a:t>
            </a:r>
            <a:endParaRPr lang="en-US" sz="2000" b="1" dirty="0">
              <a:latin typeface="Segoe UI Semilight" pitchFamily="34" charset="0"/>
              <a:cs typeface="Segoe UI Semilight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295</Words>
  <Application>Microsoft Macintosh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Segoe UI</vt:lpstr>
      <vt:lpstr>Segoe UI Semilight</vt:lpstr>
      <vt:lpstr>Times New Roman</vt:lpstr>
      <vt:lpstr>Office Theme</vt:lpstr>
      <vt:lpstr>PowerPoint Presentation</vt:lpstr>
      <vt:lpstr>PowerPoint Presentation</vt:lpstr>
      <vt:lpstr>PowerPoint Presentation</vt:lpstr>
      <vt:lpstr>Market Validation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Crystal Xu</cp:lastModifiedBy>
  <cp:revision>20</cp:revision>
  <dcterms:created xsi:type="dcterms:W3CDTF">2013-01-27T09:14:16Z</dcterms:created>
  <dcterms:modified xsi:type="dcterms:W3CDTF">2026-08-17T11:16:28Z</dcterms:modified>
  <cp:category/>
</cp:coreProperties>
</file>