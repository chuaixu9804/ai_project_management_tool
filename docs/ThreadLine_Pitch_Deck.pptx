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43"/>
  </p:normalViewPr>
  <p:slideViewPr>
    <p:cSldViewPr snapToGrid="0" snapToObjects="1">
      <p:cViewPr varScale="1">
        <p:scale>
          <a:sx n="105" d="100"/>
          <a:sy n="105" d="100"/>
        </p:scale>
        <p:origin x="74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FF5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234440" y="603504"/>
            <a:ext cx="2743200" cy="40241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 dirty="0" err="1">
                <a:solidFill>
                  <a:srgbClr val="FFFFFF"/>
                </a:solidFill>
                <a:latin typeface="Calibri"/>
              </a:rPr>
              <a:t>ThreadLine</a:t>
            </a:r>
            <a:r>
              <a:rPr lang="en-US" sz="2000" b="1" dirty="0" err="1">
                <a:solidFill>
                  <a:srgbClr val="FFFFFF"/>
                </a:solidFill>
                <a:latin typeface="Calibri"/>
              </a:rPr>
              <a:t>PMA</a:t>
            </a:r>
            <a:endParaRPr sz="20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31089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Your projects,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remembered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automatically.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737360"/>
            <a:ext cx="6766560" cy="130497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4600" b="1" i="0" dirty="0" err="1">
                <a:solidFill>
                  <a:srgbClr val="222222"/>
                </a:solidFill>
                <a:latin typeface="Calibri"/>
              </a:rPr>
              <a:t>ThreadLine</a:t>
            </a:r>
            <a:r>
              <a:rPr lang="en-US" sz="4600" b="1" i="0" dirty="0" err="1">
                <a:solidFill>
                  <a:srgbClr val="222222"/>
                </a:solidFill>
                <a:latin typeface="Calibri"/>
              </a:rPr>
              <a:t>PMA</a:t>
            </a:r>
            <a:endParaRPr sz="4600" b="1" i="0" dirty="0">
              <a:solidFill>
                <a:srgbClr val="222222"/>
              </a:solidFill>
              <a:latin typeface="Calibr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200" b="0" i="0" dirty="0">
                <a:solidFill>
                  <a:srgbClr val="767676"/>
                </a:solidFill>
                <a:latin typeface="Calibri"/>
              </a:rPr>
              <a:t>AI project memory for scattered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3474720"/>
            <a:ext cx="66751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Turn your emails, calendar events, and files into </a:t>
            </a:r>
            <a:r>
              <a:rPr sz="1800" b="1" i="0">
                <a:solidFill>
                  <a:srgbClr val="FF5A5F"/>
                </a:solidFill>
                <a:latin typeface="Calibri"/>
              </a:rPr>
              <a:t>organized projects, timelines, and action items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 — without searching for anything.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585216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767676"/>
                </a:solidFill>
                <a:latin typeface="Calibri"/>
              </a:rPr>
              <a:t>Seed Pitch  ·  2026  ·  Portfolio Demo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486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5A5F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22222"/>
                </a:solidFill>
                <a:latin typeface="Calibri"/>
              </a:rPr>
              <a:t>Project context is scattered — and you rebuild it by hand.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377440"/>
            <a:ext cx="3520440" cy="31089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2377440"/>
            <a:ext cx="3520440" cy="128016"/>
          </a:xfrm>
          <a:prstGeom prst="rect">
            <a:avLst/>
          </a:prstGeom>
          <a:solidFill>
            <a:srgbClr val="FF5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743200"/>
            <a:ext cx="2880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222222"/>
                </a:solidFill>
                <a:latin typeface="Calibri"/>
              </a:rPr>
              <a:t>Endless searching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520440"/>
            <a:ext cx="28803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767676"/>
                </a:solidFill>
                <a:latin typeface="Calibri"/>
              </a:rPr>
              <a:t>Hunt across inboxes, folders, and apps by keyword and sender just to find what belongs to one project.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34256" y="2377440"/>
            <a:ext cx="3520440" cy="31089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34256" y="2377440"/>
            <a:ext cx="3520440" cy="128016"/>
          </a:xfrm>
          <a:prstGeom prst="rect">
            <a:avLst/>
          </a:prstGeom>
          <a:solidFill>
            <a:srgbClr val="FF5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54296" y="2743200"/>
            <a:ext cx="2880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222222"/>
                </a:solidFill>
                <a:latin typeface="Calibri"/>
              </a:rPr>
              <a:t>Lost connections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54296" y="3520440"/>
            <a:ext cx="28803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767676"/>
                </a:solidFill>
                <a:latin typeface="Calibri"/>
              </a:rPr>
              <a:t>Related messages, files, and meetings use different words and live in different tools — so they get missed.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28432" y="2377440"/>
            <a:ext cx="3520440" cy="31089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028432" y="2377440"/>
            <a:ext cx="3520440" cy="128016"/>
          </a:xfrm>
          <a:prstGeom prst="rect">
            <a:avLst/>
          </a:prstGeom>
          <a:solidFill>
            <a:srgbClr val="FF5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48472" y="2743200"/>
            <a:ext cx="2880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222222"/>
                </a:solidFill>
                <a:latin typeface="Calibri"/>
              </a:rPr>
              <a:t>No memory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8472" y="3520440"/>
            <a:ext cx="28803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767676"/>
                </a:solidFill>
                <a:latin typeface="Calibri"/>
              </a:rPr>
              <a:t>When did we decide this? Where's that file? What's still open? The history has to be reconstructed every time.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521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22222"/>
                </a:solidFill>
                <a:latin typeface="Calibri"/>
              </a:rPr>
              <a:t>The result: </a:t>
            </a:r>
            <a:r>
              <a:rPr sz="1700" b="0" i="0">
                <a:solidFill>
                  <a:srgbClr val="767676"/>
                </a:solidFill>
                <a:latin typeface="Calibri"/>
              </a:rPr>
              <a:t>knowledge workers waste hours a week reassembling what they already have.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486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0A699"/>
                </a:solidFill>
                <a:latin typeface="Calibri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22222"/>
                </a:solidFill>
                <a:latin typeface="Calibri"/>
              </a:rPr>
              <a:t>Semantic memory that assembles the project for you.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5212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600" b="1">
                <a:solidFill>
                  <a:srgbClr val="00A699"/>
                </a:solidFill>
                <a:latin typeface="Calibri"/>
              </a:rPr>
              <a:t>✓  </a:t>
            </a:r>
            <a:r>
              <a:rPr sz="1600" b="1">
                <a:solidFill>
                  <a:srgbClr val="222222"/>
                </a:solidFill>
                <a:latin typeface="Calibri"/>
              </a:rPr>
              <a:t>Understands meaning</a:t>
            </a:r>
            <a:r>
              <a:rPr sz="1600" b="0">
                <a:solidFill>
                  <a:srgbClr val="767676"/>
                </a:solidFill>
                <a:latin typeface="Calibri"/>
              </a:rPr>
              <a:t>  groups related items even when the words don't match.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600" b="1">
                <a:solidFill>
                  <a:srgbClr val="00A699"/>
                </a:solidFill>
                <a:latin typeface="Calibri"/>
              </a:rPr>
              <a:t>✓  </a:t>
            </a:r>
            <a:r>
              <a:rPr sz="1600" b="1">
                <a:solidFill>
                  <a:srgbClr val="222222"/>
                </a:solidFill>
                <a:latin typeface="Calibri"/>
              </a:rPr>
              <a:t>Builds the timeline</a:t>
            </a:r>
            <a:r>
              <a:rPr sz="1600" b="0">
                <a:solidFill>
                  <a:srgbClr val="767676"/>
                </a:solidFill>
                <a:latin typeface="Calibri"/>
              </a:rPr>
              <a:t>  meetings, files, decisions, and deadlines in order.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600" b="1">
                <a:solidFill>
                  <a:srgbClr val="00A699"/>
                </a:solidFill>
                <a:latin typeface="Calibri"/>
              </a:rPr>
              <a:t>✓  </a:t>
            </a:r>
            <a:r>
              <a:rPr sz="1600" b="1">
                <a:solidFill>
                  <a:srgbClr val="222222"/>
                </a:solidFill>
                <a:latin typeface="Calibri"/>
              </a:rPr>
              <a:t>Surfaces action items</a:t>
            </a:r>
            <a:r>
              <a:rPr sz="1600" b="0">
                <a:solidFill>
                  <a:srgbClr val="767676"/>
                </a:solidFill>
                <a:latin typeface="Calibri"/>
              </a:rPr>
              <a:t>  what's open, who owns it, what's next.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600" b="1">
                <a:solidFill>
                  <a:srgbClr val="00A699"/>
                </a:solidFill>
                <a:latin typeface="Calibri"/>
              </a:rPr>
              <a:t>✓  </a:t>
            </a:r>
            <a:r>
              <a:rPr sz="1600" b="1">
                <a:solidFill>
                  <a:srgbClr val="222222"/>
                </a:solidFill>
                <a:latin typeface="Calibri"/>
              </a:rPr>
              <a:t>Always source-linked</a:t>
            </a:r>
            <a:r>
              <a:rPr sz="1600" b="0">
                <a:solidFill>
                  <a:srgbClr val="767676"/>
                </a:solidFill>
                <a:latin typeface="Calibri"/>
              </a:rPr>
              <a:t>  click any entry to verify the original message or file.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600" b="1">
                <a:solidFill>
                  <a:srgbClr val="00A699"/>
                </a:solidFill>
                <a:latin typeface="Calibri"/>
              </a:rPr>
              <a:t>✓  </a:t>
            </a:r>
            <a:r>
              <a:rPr sz="1600" b="1">
                <a:solidFill>
                  <a:srgbClr val="222222"/>
                </a:solidFill>
                <a:latin typeface="Calibri"/>
              </a:rPr>
              <a:t>You stay in control</a:t>
            </a:r>
            <a:r>
              <a:rPr sz="1600" b="0">
                <a:solidFill>
                  <a:srgbClr val="767676"/>
                </a:solidFill>
                <a:latin typeface="Calibri"/>
              </a:rPr>
              <a:t>  review, edit, and correct what the AI concludes.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0" y="2148840"/>
            <a:ext cx="5394960" cy="10515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126480" y="2148840"/>
            <a:ext cx="128016" cy="1051560"/>
          </a:xfrm>
          <a:prstGeom prst="rect">
            <a:avLst/>
          </a:prstGeom>
          <a:solidFill>
            <a:srgbClr val="00A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46520" y="225856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0A699"/>
                </a:solidFill>
                <a:latin typeface="Calibri"/>
              </a:rPr>
              <a:t>1  Connect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2660904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767676"/>
                </a:solidFill>
                <a:latin typeface="Calibri"/>
              </a:rPr>
              <a:t>Add Gmail, Google Calendar, or upload your files.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3383280"/>
            <a:ext cx="5394960" cy="10515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126480" y="3383280"/>
            <a:ext cx="128016" cy="1051560"/>
          </a:xfrm>
          <a:prstGeom prst="rect">
            <a:avLst/>
          </a:prstGeom>
          <a:solidFill>
            <a:srgbClr val="00A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349300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0A699"/>
                </a:solidFill>
                <a:latin typeface="Calibri"/>
              </a:rPr>
              <a:t>2  Organize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3895344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767676"/>
                </a:solidFill>
                <a:latin typeface="Calibri"/>
              </a:rPr>
              <a:t>AI groups everything into projects by meaning, not keywords.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4617720"/>
            <a:ext cx="5394960" cy="10515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26480" y="4617720"/>
            <a:ext cx="128016" cy="1051560"/>
          </a:xfrm>
          <a:prstGeom prst="rect">
            <a:avLst/>
          </a:prstGeom>
          <a:solidFill>
            <a:srgbClr val="00A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46520" y="472744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0A699"/>
                </a:solidFill>
                <a:latin typeface="Calibri"/>
              </a:rPr>
              <a:t>3  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5129784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767676"/>
                </a:solidFill>
                <a:latin typeface="Calibri"/>
              </a:rPr>
              <a:t>Get one dashboard: timeline, decisions, and next actions.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486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5A5F"/>
                </a:solidFill>
                <a:latin typeface="Calibri"/>
              </a:rPr>
              <a:t>MARKET &amp;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22222"/>
                </a:solidFill>
                <a:latin typeface="Calibri"/>
              </a:rPr>
              <a:t>A large market, a simple way to earn.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286000"/>
            <a:ext cx="5852160" cy="960120"/>
          </a:xfrm>
          <a:prstGeom prst="rect">
            <a:avLst/>
          </a:prstGeom>
          <a:solidFill>
            <a:srgbClr val="FF5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359152"/>
            <a:ext cx="2011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$100B+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TAM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20840" y="2542032"/>
            <a:ext cx="5486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767676"/>
                </a:solidFill>
                <a:latin typeface="Calibri"/>
              </a:rPr>
              <a:t>Global project &amp; work-management software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429000"/>
            <a:ext cx="4480560" cy="960120"/>
          </a:xfrm>
          <a:prstGeom prst="rect">
            <a:avLst/>
          </a:prstGeom>
          <a:solidFill>
            <a:srgbClr val="FF7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3502152"/>
            <a:ext cx="2011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$18B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SAM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3685032"/>
            <a:ext cx="5486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767676"/>
                </a:solidFill>
                <a:latin typeface="Calibri"/>
              </a:rPr>
              <a:t>Knowledge workers on Gmail / Google Workspace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572000"/>
            <a:ext cx="3108960" cy="960120"/>
          </a:xfrm>
          <a:prstGeom prst="rect">
            <a:avLst/>
          </a:prstGeom>
          <a:solidFill>
            <a:srgbClr val="FF9C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4645152"/>
            <a:ext cx="2011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$400M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SOM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40" y="4828032"/>
            <a:ext cx="5486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767676"/>
                </a:solidFill>
                <a:latin typeface="Calibri"/>
              </a:rPr>
              <a:t>Early target: PMs, consultants &amp; freelancers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75320" y="2286000"/>
            <a:ext cx="3246120" cy="347472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49640" y="24688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5A5F"/>
                </a:solidFill>
                <a:latin typeface="Calibri"/>
              </a:rPr>
              <a:t>BUSINESS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288036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222222"/>
                </a:solidFill>
                <a:latin typeface="Calibri"/>
              </a:rPr>
              <a:t>$12</a:t>
            </a:r>
            <a:r>
              <a:rPr sz="1600" b="1" i="0">
                <a:solidFill>
                  <a:srgbClr val="767676"/>
                </a:solidFill>
                <a:latin typeface="Calibri"/>
              </a:rPr>
              <a:t> / user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767676"/>
                </a:solidFill>
                <a:latin typeface="Calibri"/>
              </a:rPr>
              <a:t>per month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3977639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300" b="1">
                <a:solidFill>
                  <a:srgbClr val="FF5A5F"/>
                </a:solidFill>
                <a:latin typeface="Calibri"/>
              </a:rPr>
              <a:t>—  </a:t>
            </a:r>
            <a:r>
              <a:rPr sz="1300" b="1">
                <a:solidFill>
                  <a:srgbClr val="222222"/>
                </a:solidFill>
                <a:latin typeface="Calibri"/>
              </a:rPr>
              <a:t>Free tier</a:t>
            </a:r>
            <a:r>
              <a:rPr sz="1300" b="0">
                <a:solidFill>
                  <a:srgbClr val="767676"/>
                </a:solidFill>
                <a:latin typeface="Calibri"/>
              </a:rPr>
              <a:t>  1 integration, 3 projects.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300" b="1">
                <a:solidFill>
                  <a:srgbClr val="FF5A5F"/>
                </a:solidFill>
                <a:latin typeface="Calibri"/>
              </a:rPr>
              <a:t>—  </a:t>
            </a:r>
            <a:r>
              <a:rPr sz="1300" b="1">
                <a:solidFill>
                  <a:srgbClr val="222222"/>
                </a:solidFill>
                <a:latin typeface="Calibri"/>
              </a:rPr>
              <a:t>Pro</a:t>
            </a:r>
            <a:r>
              <a:rPr sz="1300" b="0">
                <a:solidFill>
                  <a:srgbClr val="767676"/>
                </a:solidFill>
                <a:latin typeface="Calibri"/>
              </a:rPr>
              <a:t>  unlimited projects &amp; history.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300" b="1">
                <a:solidFill>
                  <a:srgbClr val="FF5A5F"/>
                </a:solidFill>
                <a:latin typeface="Calibri"/>
              </a:rPr>
              <a:t>—  </a:t>
            </a:r>
            <a:r>
              <a:rPr sz="1300" b="1">
                <a:solidFill>
                  <a:srgbClr val="222222"/>
                </a:solidFill>
                <a:latin typeface="Calibri"/>
              </a:rPr>
              <a:t>Teams</a:t>
            </a:r>
            <a:r>
              <a:rPr sz="1300" b="0">
                <a:solidFill>
                  <a:srgbClr val="767676"/>
                </a:solidFill>
                <a:latin typeface="Calibri"/>
              </a:rPr>
              <a:t>  shared dashboards &amp; roles.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486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5A5F"/>
                </a:solidFill>
                <a:latin typeface="Calibri"/>
              </a:rPr>
              <a:t>WHY WE WIN + 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Not another inbox. A project manager that remembers.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6035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600"/>
              </a:spcAft>
            </a:pPr>
            <a:r>
              <a:rPr sz="1700" b="1">
                <a:solidFill>
                  <a:srgbClr val="FF5A5F"/>
                </a:solidFill>
                <a:latin typeface="Calibri"/>
              </a:rPr>
              <a:t>→  </a:t>
            </a:r>
            <a:r>
              <a:rPr sz="1700" b="1">
                <a:solidFill>
                  <a:srgbClr val="FFFFFF"/>
                </a:solidFill>
                <a:latin typeface="Calibri"/>
              </a:rPr>
              <a:t>Meaning, not keywords
</a:t>
            </a:r>
            <a:r>
              <a:rPr sz="1400" b="0">
                <a:solidFill>
                  <a:srgbClr val="BBBBBB"/>
                </a:solidFill>
                <a:latin typeface="Calibri"/>
              </a:rPr>
              <a:t>     semantic grouping across tools, not just search.</a:t>
            </a:r>
          </a:p>
          <a:p>
            <a:pPr>
              <a:lnSpc>
                <a:spcPct val="110000"/>
              </a:lnSpc>
              <a:spcAft>
                <a:spcPts val="1600"/>
              </a:spcAft>
            </a:pPr>
            <a:r>
              <a:rPr sz="1700" b="1">
                <a:solidFill>
                  <a:srgbClr val="FF5A5F"/>
                </a:solidFill>
                <a:latin typeface="Calibri"/>
              </a:rPr>
              <a:t>→  </a:t>
            </a:r>
            <a:r>
              <a:rPr sz="1700" b="1">
                <a:solidFill>
                  <a:srgbClr val="FFFFFF"/>
                </a:solidFill>
                <a:latin typeface="Calibri"/>
              </a:rPr>
              <a:t>Doesn't replace your inbox
</a:t>
            </a:r>
            <a:r>
              <a:rPr sz="1400" b="0">
                <a:solidFill>
                  <a:srgbClr val="BBBBBB"/>
                </a:solidFill>
                <a:latin typeface="Calibri"/>
              </a:rPr>
              <a:t>     it organizes above your existing apps.</a:t>
            </a:r>
          </a:p>
          <a:p>
            <a:pPr>
              <a:lnSpc>
                <a:spcPct val="110000"/>
              </a:lnSpc>
              <a:spcAft>
                <a:spcPts val="1600"/>
              </a:spcAft>
            </a:pPr>
            <a:r>
              <a:rPr sz="1700" b="1">
                <a:solidFill>
                  <a:srgbClr val="FF5A5F"/>
                </a:solidFill>
                <a:latin typeface="Calibri"/>
              </a:rPr>
              <a:t>→  </a:t>
            </a:r>
            <a:r>
              <a:rPr sz="1700" b="1">
                <a:solidFill>
                  <a:srgbClr val="FFFFFF"/>
                </a:solidFill>
                <a:latin typeface="Calibri"/>
              </a:rPr>
              <a:t>Source-linked trust
</a:t>
            </a:r>
            <a:r>
              <a:rPr sz="1400" b="0">
                <a:solidFill>
                  <a:srgbClr val="BBBBBB"/>
                </a:solidFill>
                <a:latin typeface="Calibri"/>
              </a:rPr>
              <a:t>     every conclusion is verifiable and editable.</a:t>
            </a:r>
          </a:p>
          <a:p>
            <a:pPr>
              <a:lnSpc>
                <a:spcPct val="110000"/>
              </a:lnSpc>
              <a:spcAft>
                <a:spcPts val="1600"/>
              </a:spcAft>
            </a:pPr>
            <a:r>
              <a:rPr sz="1700" b="1">
                <a:solidFill>
                  <a:srgbClr val="FF5A5F"/>
                </a:solidFill>
                <a:latin typeface="Calibri"/>
              </a:rPr>
              <a:t>→  </a:t>
            </a:r>
            <a:r>
              <a:rPr sz="1700" b="1">
                <a:solidFill>
                  <a:srgbClr val="FFFFFF"/>
                </a:solidFill>
                <a:latin typeface="Calibri"/>
              </a:rPr>
              <a:t>Fast to value
</a:t>
            </a:r>
            <a:r>
              <a:rPr sz="1400" b="0">
                <a:solidFill>
                  <a:srgbClr val="BBBBBB"/>
                </a:solidFill>
                <a:latin typeface="Calibri"/>
              </a:rPr>
              <a:t>     connect one account and see projects in minutes.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0" y="2194560"/>
            <a:ext cx="4480560" cy="3749039"/>
          </a:xfrm>
          <a:prstGeom prst="rect">
            <a:avLst/>
          </a:prstGeom>
          <a:solidFill>
            <a:srgbClr val="FF5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0" y="2468880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THE 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2926080"/>
            <a:ext cx="3840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$500K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to fund 12 months of runway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4297680"/>
            <a:ext cx="3840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—  </a:t>
            </a:r>
            <a:r>
              <a:rPr sz="1400" b="1">
                <a:solidFill>
                  <a:srgbClr val="222222"/>
                </a:solidFill>
                <a:latin typeface="Calibri"/>
              </a:rPr>
              <a:t>Ship the MVP</a:t>
            </a:r>
            <a:r>
              <a:rPr sz="1400" b="0">
                <a:solidFill>
                  <a:srgbClr val="767676"/>
                </a:solidFill>
                <a:latin typeface="Calibri"/>
              </a:rPr>
              <a:t>  Gmail + Calendar + file upload.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—  </a:t>
            </a:r>
            <a:r>
              <a:rPr sz="1400" b="1">
                <a:solidFill>
                  <a:srgbClr val="222222"/>
                </a:solidFill>
                <a:latin typeface="Calibri"/>
              </a:rPr>
              <a:t>First 500 users</a:t>
            </a:r>
            <a:r>
              <a:rPr sz="1400" b="0">
                <a:solidFill>
                  <a:srgbClr val="767676"/>
                </a:solidFill>
                <a:latin typeface="Calibri"/>
              </a:rPr>
              <a:t>  PMs, consultants, freelancers.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—  </a:t>
            </a:r>
            <a:r>
              <a:rPr sz="1400" b="1">
                <a:solidFill>
                  <a:srgbClr val="222222"/>
                </a:solidFill>
                <a:latin typeface="Calibri"/>
              </a:rPr>
              <a:t>Prove accuracy</a:t>
            </a:r>
            <a:r>
              <a:rPr sz="1400" b="0">
                <a:solidFill>
                  <a:srgbClr val="767676"/>
                </a:solidFill>
                <a:latin typeface="Calibri"/>
              </a:rPr>
              <a:t>  grouping quality users trust.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456</Words>
  <Application>Microsoft Macintosh PowerPoint</Application>
  <PresentationFormat>Widescreen</PresentationFormat>
  <Paragraphs>59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Crystal Xu</cp:lastModifiedBy>
  <cp:revision>2</cp:revision>
  <dcterms:created xsi:type="dcterms:W3CDTF">2013-01-27T09:14:16Z</dcterms:created>
  <dcterms:modified xsi:type="dcterms:W3CDTF">2026-08-12T14:43:04Z</dcterms:modified>
  <cp:category/>
</cp:coreProperties>
</file>